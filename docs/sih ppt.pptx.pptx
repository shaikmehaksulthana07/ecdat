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0000000000000000000"/>
      <p:regular r:id="rId12"/>
    </p:embeddedFont>
    <p:embeddedFont>
      <p:font typeface="Times New Roman Bold" charset="1" panose="02020803070505020304"/>
      <p:regular r:id="rId13"/>
    </p:embeddedFont>
    <p:embeddedFont>
      <p:font typeface="Open Sans" charset="1" panose="00000000000000000000"/>
      <p:regular r:id="rId14"/>
    </p:embeddedFont>
    <p:embeddedFont>
      <p:font typeface="Arial MT Pro" charset="1" panose="020B0502020202020204"/>
      <p:regular r:id="rId15"/>
    </p:embeddedFont>
    <p:embeddedFont>
      <p:font typeface="Open Sans Bold Italics" charset="1" panose="00000000000000000000"/>
      <p:regular r:id="rId16"/>
    </p:embeddedFont>
    <p:embeddedFont>
      <p:font typeface="Open Sans Italic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5.png" Type="http://schemas.openxmlformats.org/officeDocument/2006/relationships/image"/><Relationship Id="rId7" Target="../media/image1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5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5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https://www.nccoe.nist.gov/sites/default/files/2023-12/pqc-migration-nist-sp-1800-38b-preliminary-draft.pdf" TargetMode="External" Type="http://schemas.openxmlformats.org/officeDocument/2006/relationships/hyperlink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04830" y="116611"/>
            <a:ext cx="4466036" cy="2143293"/>
            <a:chOff x="0" y="0"/>
            <a:chExt cx="5954714" cy="2857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54714" cy="2857697"/>
            </a:xfrm>
            <a:custGeom>
              <a:avLst/>
              <a:gdLst/>
              <a:ahLst/>
              <a:cxnLst/>
              <a:rect r="r" b="b" t="t" l="l"/>
              <a:pathLst>
                <a:path h="2857697" w="5954714">
                  <a:moveTo>
                    <a:pt x="0" y="0"/>
                  </a:moveTo>
                  <a:lnTo>
                    <a:pt x="5954714" y="0"/>
                  </a:lnTo>
                  <a:lnTo>
                    <a:pt x="5954714" y="2857697"/>
                  </a:lnTo>
                  <a:lnTo>
                    <a:pt x="0" y="285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99" t="0" r="-89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039600" y="2402438"/>
            <a:ext cx="5219700" cy="5800725"/>
          </a:xfrm>
          <a:custGeom>
            <a:avLst/>
            <a:gdLst/>
            <a:ahLst/>
            <a:cxnLst/>
            <a:rect r="r" b="b" t="t" l="l"/>
            <a:pathLst>
              <a:path h="5800725" w="5219700">
                <a:moveTo>
                  <a:pt x="0" y="0"/>
                </a:moveTo>
                <a:lnTo>
                  <a:pt x="5219700" y="0"/>
                </a:lnTo>
                <a:lnTo>
                  <a:pt x="5219700" y="5800725"/>
                </a:lnTo>
                <a:lnTo>
                  <a:pt x="0" y="580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504830" y="3747958"/>
            <a:ext cx="3603946" cy="3851186"/>
            <a:chOff x="0" y="0"/>
            <a:chExt cx="4805261" cy="5134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05299" cy="5134864"/>
            </a:xfrm>
            <a:custGeom>
              <a:avLst/>
              <a:gdLst/>
              <a:ahLst/>
              <a:cxnLst/>
              <a:rect r="r" b="b" t="t" l="l"/>
              <a:pathLst>
                <a:path h="5134864" w="4805299">
                  <a:moveTo>
                    <a:pt x="0" y="0"/>
                  </a:moveTo>
                  <a:lnTo>
                    <a:pt x="4805299" y="0"/>
                  </a:lnTo>
                  <a:lnTo>
                    <a:pt x="4805299" y="5134864"/>
                  </a:lnTo>
                  <a:lnTo>
                    <a:pt x="0" y="513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9" t="0" r="-14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53894" y="1568950"/>
            <a:ext cx="8116957" cy="833488"/>
            <a:chOff x="0" y="0"/>
            <a:chExt cx="1614536" cy="1657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4536" cy="165788"/>
            </a:xfrm>
            <a:custGeom>
              <a:avLst/>
              <a:gdLst/>
              <a:ahLst/>
              <a:cxnLst/>
              <a:rect r="r" b="b" t="t" l="l"/>
              <a:pathLst>
                <a:path h="165788" w="1614536">
                  <a:moveTo>
                    <a:pt x="1411336" y="0"/>
                  </a:moveTo>
                  <a:cubicBezTo>
                    <a:pt x="1523560" y="0"/>
                    <a:pt x="1614536" y="37113"/>
                    <a:pt x="1614536" y="82894"/>
                  </a:cubicBezTo>
                  <a:cubicBezTo>
                    <a:pt x="1614536" y="128675"/>
                    <a:pt x="1523560" y="165788"/>
                    <a:pt x="1411336" y="165788"/>
                  </a:cubicBezTo>
                  <a:lnTo>
                    <a:pt x="203200" y="165788"/>
                  </a:lnTo>
                  <a:cubicBezTo>
                    <a:pt x="90976" y="165788"/>
                    <a:pt x="0" y="128675"/>
                    <a:pt x="0" y="82894"/>
                  </a:cubicBezTo>
                  <a:cubicBezTo>
                    <a:pt x="0" y="3711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614536" cy="165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79"/>
                </a:lnSpc>
              </a:pPr>
              <a:r>
                <a:rPr lang="en-US" b="true" sz="3649" spc="-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CRYPTAGUARD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193584" y="1377948"/>
            <a:ext cx="1360310" cy="1360310"/>
          </a:xfrm>
          <a:custGeom>
            <a:avLst/>
            <a:gdLst/>
            <a:ahLst/>
            <a:cxnLst/>
            <a:rect r="r" b="b" t="t" l="l"/>
            <a:pathLst>
              <a:path h="1360310" w="1360310">
                <a:moveTo>
                  <a:pt x="0" y="0"/>
                </a:moveTo>
                <a:lnTo>
                  <a:pt x="1360310" y="0"/>
                </a:lnTo>
                <a:lnTo>
                  <a:pt x="1360310" y="1360311"/>
                </a:lnTo>
                <a:lnTo>
                  <a:pt x="0" y="1360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7029" y="3676104"/>
            <a:ext cx="12707801" cy="514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7"/>
              </a:lnSpc>
            </a:pPr>
            <a:r>
              <a:rPr lang="en-US" sz="32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ID – </a:t>
            </a:r>
            <a:r>
              <a:rPr lang="en-US" sz="32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SIH26164</a:t>
            </a:r>
          </a:p>
          <a:p>
            <a:pPr algn="l">
              <a:lnSpc>
                <a:spcPts val="5867"/>
              </a:lnSpc>
            </a:pPr>
            <a:r>
              <a:rPr lang="en-US" sz="32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 Statement  Title  – </a:t>
            </a:r>
            <a:r>
              <a:rPr lang="en-US" b="true" sz="3259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 “Enterprise  Cryptographic  Discovery  &amp;  Analysis Tool (ECDAT)”</a:t>
            </a:r>
          </a:p>
          <a:p>
            <a:pPr algn="l">
              <a:lnSpc>
                <a:spcPts val="5867"/>
              </a:lnSpc>
            </a:pPr>
            <a:r>
              <a:rPr lang="en-US" sz="32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Theme – Blockchain &amp; Cybersecurity </a:t>
            </a:r>
          </a:p>
          <a:p>
            <a:pPr algn="l">
              <a:lnSpc>
                <a:spcPts val="5867"/>
              </a:lnSpc>
            </a:pPr>
            <a:r>
              <a:rPr lang="en-US" sz="32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PS Category – Software</a:t>
            </a:r>
          </a:p>
          <a:p>
            <a:pPr algn="l">
              <a:lnSpc>
                <a:spcPts val="5867"/>
              </a:lnSpc>
            </a:pPr>
            <a:r>
              <a:rPr lang="en-US" sz="32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ID – 138525</a:t>
            </a:r>
          </a:p>
          <a:p>
            <a:pPr algn="l">
              <a:lnSpc>
                <a:spcPts val="5867"/>
              </a:lnSpc>
            </a:pPr>
            <a:r>
              <a:rPr lang="en-US" sz="32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Name (Registered on portal) – Cypher Vault</a:t>
            </a:r>
          </a:p>
        </p:txBody>
      </p:sp>
      <p:sp>
        <p:nvSpPr>
          <p:cNvPr name="TextBox 12" id="12" descr="$PPTXTitle"/>
          <p:cNvSpPr txBox="true"/>
          <p:nvPr/>
        </p:nvSpPr>
        <p:spPr>
          <a:xfrm rot="0">
            <a:off x="3566217" y="650877"/>
            <a:ext cx="9104633" cy="72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9720853"/>
            <a:ext cx="13716000" cy="566423"/>
            <a:chOff x="0" y="0"/>
            <a:chExt cx="18288000" cy="755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7746" cy="754888"/>
            </a:xfrm>
            <a:custGeom>
              <a:avLst/>
              <a:gdLst/>
              <a:ahLst/>
              <a:cxnLst/>
              <a:rect r="r" b="b" t="t" l="l"/>
              <a:pathLst>
                <a:path h="754888" w="18287746">
                  <a:moveTo>
                    <a:pt x="18287746" y="754888"/>
                  </a:moveTo>
                  <a:lnTo>
                    <a:pt x="0" y="754888"/>
                  </a:lnTo>
                  <a:lnTo>
                    <a:pt x="0" y="0"/>
                  </a:lnTo>
                  <a:lnTo>
                    <a:pt x="18287746" y="0"/>
                  </a:lnTo>
                  <a:lnTo>
                    <a:pt x="18287746" y="754888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10962" y="126927"/>
            <a:ext cx="1360310" cy="1360310"/>
          </a:xfrm>
          <a:custGeom>
            <a:avLst/>
            <a:gdLst/>
            <a:ahLst/>
            <a:cxnLst/>
            <a:rect r="r" b="b" t="t" l="l"/>
            <a:pathLst>
              <a:path h="1360310" w="1360310">
                <a:moveTo>
                  <a:pt x="0" y="0"/>
                </a:moveTo>
                <a:lnTo>
                  <a:pt x="1360310" y="0"/>
                </a:lnTo>
                <a:lnTo>
                  <a:pt x="1360310" y="1360310"/>
                </a:lnTo>
                <a:lnTo>
                  <a:pt x="0" y="1360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10964" y="2848495"/>
            <a:ext cx="4251300" cy="6565533"/>
          </a:xfrm>
          <a:custGeom>
            <a:avLst/>
            <a:gdLst/>
            <a:ahLst/>
            <a:cxnLst/>
            <a:rect r="r" b="b" t="t" l="l"/>
            <a:pathLst>
              <a:path h="6565533" w="4251300">
                <a:moveTo>
                  <a:pt x="0" y="0"/>
                </a:moveTo>
                <a:lnTo>
                  <a:pt x="4251300" y="0"/>
                </a:lnTo>
                <a:lnTo>
                  <a:pt x="4251300" y="6565533"/>
                </a:lnTo>
                <a:lnTo>
                  <a:pt x="0" y="6565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48" t="-5081" r="-2973" b="-131"/>
            </a:stretch>
          </a:blipFill>
        </p:spPr>
      </p:sp>
      <p:sp>
        <p:nvSpPr>
          <p:cNvPr name="TextBox 6" id="6" descr="$PPTXTitle"/>
          <p:cNvSpPr txBox="true"/>
          <p:nvPr/>
        </p:nvSpPr>
        <p:spPr>
          <a:xfrm rot="0">
            <a:off x="2282552" y="136452"/>
            <a:ext cx="1251204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0"/>
              </a:lnSpc>
            </a:pPr>
            <a:r>
              <a:rPr lang="en-US" sz="3650" b="true">
                <a:solidFill>
                  <a:srgbClr val="1737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CRYPTAGUARD — Enterprise Cryptographic Security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596208" y="98570"/>
            <a:ext cx="3541634" cy="1699664"/>
            <a:chOff x="0" y="0"/>
            <a:chExt cx="5954714" cy="28577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54714" cy="2857697"/>
            </a:xfrm>
            <a:custGeom>
              <a:avLst/>
              <a:gdLst/>
              <a:ahLst/>
              <a:cxnLst/>
              <a:rect r="r" b="b" t="t" l="l"/>
              <a:pathLst>
                <a:path h="2857697" w="5954714">
                  <a:moveTo>
                    <a:pt x="0" y="0"/>
                  </a:moveTo>
                  <a:lnTo>
                    <a:pt x="5954714" y="0"/>
                  </a:lnTo>
                  <a:lnTo>
                    <a:pt x="5954714" y="2857697"/>
                  </a:lnTo>
                  <a:lnTo>
                    <a:pt x="0" y="285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9" t="0" r="-89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6991" y="1798234"/>
            <a:ext cx="5967007" cy="3544047"/>
            <a:chOff x="0" y="0"/>
            <a:chExt cx="1571557" cy="9334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1557" cy="933412"/>
            </a:xfrm>
            <a:custGeom>
              <a:avLst/>
              <a:gdLst/>
              <a:ahLst/>
              <a:cxnLst/>
              <a:rect r="r" b="b" t="t" l="l"/>
              <a:pathLst>
                <a:path h="933412" w="1571557">
                  <a:moveTo>
                    <a:pt x="66170" y="0"/>
                  </a:moveTo>
                  <a:lnTo>
                    <a:pt x="1505387" y="0"/>
                  </a:lnTo>
                  <a:cubicBezTo>
                    <a:pt x="1541932" y="0"/>
                    <a:pt x="1571557" y="29625"/>
                    <a:pt x="1571557" y="66170"/>
                  </a:cubicBezTo>
                  <a:lnTo>
                    <a:pt x="1571557" y="867241"/>
                  </a:lnTo>
                  <a:cubicBezTo>
                    <a:pt x="1571557" y="903786"/>
                    <a:pt x="1541932" y="933412"/>
                    <a:pt x="1505387" y="933412"/>
                  </a:cubicBezTo>
                  <a:lnTo>
                    <a:pt x="66170" y="933412"/>
                  </a:lnTo>
                  <a:cubicBezTo>
                    <a:pt x="29625" y="933412"/>
                    <a:pt x="0" y="903786"/>
                    <a:pt x="0" y="867241"/>
                  </a:cubicBezTo>
                  <a:lnTo>
                    <a:pt x="0" y="66170"/>
                  </a:lnTo>
                  <a:cubicBezTo>
                    <a:pt x="0" y="29625"/>
                    <a:pt x="29625" y="0"/>
                    <a:pt x="66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571557" cy="933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b="true" sz="2049" spc="-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 Cryptographic Challenge</a:t>
              </a:r>
            </a:p>
            <a:p>
              <a:pPr algn="ctr">
                <a:lnSpc>
                  <a:spcPts val="2459"/>
                </a:lnSpc>
              </a:pPr>
            </a:p>
            <a:p>
              <a:pPr algn="l" marL="442594" indent="-221297" lvl="1">
                <a:lnSpc>
                  <a:spcPts val="2459"/>
                </a:lnSpc>
                <a:buFont typeface="Arial"/>
                <a:buChar char="•"/>
              </a:pPr>
              <a:r>
                <a:rPr lang="en-US" sz="2049" spc="-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Cryptographic assets can be found within the source code, libraries, certificates, configuration, binaries, and containers that modern businesses use in the organization. </a:t>
              </a:r>
            </a:p>
            <a:p>
              <a:pPr algn="l" marL="442594" indent="-221297" lvl="1">
                <a:lnSpc>
                  <a:spcPts val="2459"/>
                </a:lnSpc>
                <a:buFont typeface="Arial"/>
                <a:buChar char="•"/>
              </a:pPr>
              <a:r>
                <a:rPr lang="en-US" sz="2049" spc="-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With quantum computing posing a threat to traditional public key cryptography, the organizations need to understand which of the assets are vulnerable and exposed.</a:t>
              </a:r>
            </a:p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00377" y="5761540"/>
            <a:ext cx="5605737" cy="3803814"/>
            <a:chOff x="0" y="0"/>
            <a:chExt cx="1476408" cy="10018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76408" cy="1001828"/>
            </a:xfrm>
            <a:custGeom>
              <a:avLst/>
              <a:gdLst/>
              <a:ahLst/>
              <a:cxnLst/>
              <a:rect r="r" b="b" t="t" l="l"/>
              <a:pathLst>
                <a:path h="1001828" w="1476408">
                  <a:moveTo>
                    <a:pt x="70435" y="0"/>
                  </a:moveTo>
                  <a:lnTo>
                    <a:pt x="1405973" y="0"/>
                  </a:lnTo>
                  <a:cubicBezTo>
                    <a:pt x="1444874" y="0"/>
                    <a:pt x="1476408" y="31535"/>
                    <a:pt x="1476408" y="70435"/>
                  </a:cubicBezTo>
                  <a:lnTo>
                    <a:pt x="1476408" y="931393"/>
                  </a:lnTo>
                  <a:cubicBezTo>
                    <a:pt x="1476408" y="970293"/>
                    <a:pt x="1444874" y="1001828"/>
                    <a:pt x="1405973" y="1001828"/>
                  </a:cubicBezTo>
                  <a:lnTo>
                    <a:pt x="70435" y="1001828"/>
                  </a:lnTo>
                  <a:cubicBezTo>
                    <a:pt x="31535" y="1001828"/>
                    <a:pt x="0" y="970293"/>
                    <a:pt x="0" y="931393"/>
                  </a:cubicBezTo>
                  <a:lnTo>
                    <a:pt x="0" y="70435"/>
                  </a:lnTo>
                  <a:cubicBezTo>
                    <a:pt x="0" y="31535"/>
                    <a:pt x="31535" y="0"/>
                    <a:pt x="704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76408" cy="1001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42594" indent="-221297" lvl="1">
                <a:lnSpc>
                  <a:spcPts val="2459"/>
                </a:lnSpc>
                <a:buFont typeface="Arial"/>
                <a:buChar char="•"/>
              </a:pPr>
              <a:r>
                <a:rPr lang="en-US" sz="2049" spc="-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CRYPTAGUARD delivers an end-to-end cryptographic discovery to migration decision framework.</a:t>
              </a:r>
            </a:p>
            <a:p>
              <a:pPr algn="l" marL="442594" indent="-221297" lvl="1">
                <a:lnSpc>
                  <a:spcPts val="2459"/>
                </a:lnSpc>
                <a:buFont typeface="Arial"/>
                <a:buChar char="•"/>
              </a:pPr>
              <a:r>
                <a:rPr lang="en-US" sz="2049" spc="-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It conducts cryptographic discovery and inventorying, analysis using classical and quantum risk, priority migration based on cryptographic life time and Mosca analysis, and suggests appropriate PQC / hybrid solutions.</a:t>
              </a:r>
            </a:p>
            <a:p>
              <a:pPr algn="l" marL="442594" indent="-221297" lvl="1">
                <a:lnSpc>
                  <a:spcPts val="2459"/>
                </a:lnSpc>
                <a:buFont typeface="Arial"/>
                <a:buChar char="•"/>
              </a:pPr>
              <a:r>
                <a:rPr lang="en-US" sz="2049" spc="-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All above deliverables connect in a migration roadmap and CBOM.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253" y="5497779"/>
            <a:ext cx="5576482" cy="4067576"/>
            <a:chOff x="0" y="0"/>
            <a:chExt cx="1265480" cy="9230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5480" cy="923061"/>
            </a:xfrm>
            <a:custGeom>
              <a:avLst/>
              <a:gdLst/>
              <a:ahLst/>
              <a:cxnLst/>
              <a:rect r="r" b="b" t="t" l="l"/>
              <a:pathLst>
                <a:path h="923061" w="1265480">
                  <a:moveTo>
                    <a:pt x="632740" y="0"/>
                  </a:moveTo>
                  <a:cubicBezTo>
                    <a:pt x="283287" y="0"/>
                    <a:pt x="0" y="206634"/>
                    <a:pt x="0" y="461531"/>
                  </a:cubicBezTo>
                  <a:cubicBezTo>
                    <a:pt x="0" y="716427"/>
                    <a:pt x="283287" y="923061"/>
                    <a:pt x="632740" y="923061"/>
                  </a:cubicBezTo>
                  <a:cubicBezTo>
                    <a:pt x="982192" y="923061"/>
                    <a:pt x="1265480" y="716427"/>
                    <a:pt x="1265480" y="461531"/>
                  </a:cubicBezTo>
                  <a:cubicBezTo>
                    <a:pt x="1265480" y="206634"/>
                    <a:pt x="982192" y="0"/>
                    <a:pt x="6327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18639" y="77012"/>
              <a:ext cx="1028202" cy="759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330201" y="1656914"/>
            <a:ext cx="5375913" cy="1790851"/>
          </a:xfrm>
          <a:custGeom>
            <a:avLst/>
            <a:gdLst/>
            <a:ahLst/>
            <a:cxnLst/>
            <a:rect r="r" b="b" t="t" l="l"/>
            <a:pathLst>
              <a:path h="1790851" w="5375913">
                <a:moveTo>
                  <a:pt x="0" y="0"/>
                </a:moveTo>
                <a:lnTo>
                  <a:pt x="5375913" y="0"/>
                </a:lnTo>
                <a:lnTo>
                  <a:pt x="5375913" y="1790851"/>
                </a:lnTo>
                <a:lnTo>
                  <a:pt x="0" y="179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61820" y="3499439"/>
            <a:ext cx="1782180" cy="1644061"/>
          </a:xfrm>
          <a:custGeom>
            <a:avLst/>
            <a:gdLst/>
            <a:ahLst/>
            <a:cxnLst/>
            <a:rect r="r" b="b" t="t" l="l"/>
            <a:pathLst>
              <a:path h="1644061" w="1782180">
                <a:moveTo>
                  <a:pt x="0" y="0"/>
                </a:moveTo>
                <a:lnTo>
                  <a:pt x="1782180" y="0"/>
                </a:lnTo>
                <a:lnTo>
                  <a:pt x="1782180" y="1644061"/>
                </a:lnTo>
                <a:lnTo>
                  <a:pt x="0" y="16440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18158" y="3447765"/>
            <a:ext cx="1659022" cy="1620116"/>
          </a:xfrm>
          <a:custGeom>
            <a:avLst/>
            <a:gdLst/>
            <a:ahLst/>
            <a:cxnLst/>
            <a:rect r="r" b="b" t="t" l="l"/>
            <a:pathLst>
              <a:path h="1620116" w="1659022">
                <a:moveTo>
                  <a:pt x="0" y="0"/>
                </a:moveTo>
                <a:lnTo>
                  <a:pt x="1659022" y="0"/>
                </a:lnTo>
                <a:lnTo>
                  <a:pt x="1659022" y="1620116"/>
                </a:lnTo>
                <a:lnTo>
                  <a:pt x="0" y="16201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814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506264">
            <a:off x="11468673" y="4696380"/>
            <a:ext cx="1185259" cy="1007470"/>
          </a:xfrm>
          <a:custGeom>
            <a:avLst/>
            <a:gdLst/>
            <a:ahLst/>
            <a:cxnLst/>
            <a:rect r="r" b="b" t="t" l="l"/>
            <a:pathLst>
              <a:path h="1007470" w="1185259">
                <a:moveTo>
                  <a:pt x="0" y="0"/>
                </a:moveTo>
                <a:lnTo>
                  <a:pt x="1185259" y="0"/>
                </a:lnTo>
                <a:lnTo>
                  <a:pt x="1185259" y="1007470"/>
                </a:lnTo>
                <a:lnTo>
                  <a:pt x="0" y="1007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538572" y="9826552"/>
            <a:ext cx="1185148" cy="29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68476" y="807082"/>
            <a:ext cx="60820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  <a:spcBef>
                <a:spcPct val="0"/>
              </a:spcBef>
            </a:pPr>
            <a:r>
              <a:rPr lang="en-US" b="true" sz="2549" spc="-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Discover • Assess • Prioritize • Migrate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35799" y="5345379"/>
            <a:ext cx="197584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 spc="-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CRYPTAGUARD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4194" y="6456706"/>
            <a:ext cx="46126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 spc="-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 Discovery to Decision</a:t>
            </a:r>
          </a:p>
          <a:p>
            <a:pPr algn="ctr">
              <a:lnSpc>
                <a:spcPts val="2459"/>
              </a:lnSpc>
              <a:spcBef>
                <a:spcPct val="0"/>
              </a:spcBef>
            </a:pPr>
          </a:p>
          <a:p>
            <a:pPr algn="l" marL="442594" indent="-221297" lvl="1">
              <a:lnSpc>
                <a:spcPts val="2459"/>
              </a:lnSpc>
              <a:buFont typeface="Arial"/>
              <a:buChar char="•"/>
            </a:pPr>
            <a:r>
              <a:rPr lang="en-US" sz="2049" spc="-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Discover what cryptography exists.</a:t>
            </a:r>
          </a:p>
          <a:p>
            <a:pPr algn="l" marL="442594" indent="-221297" lvl="1">
              <a:lnSpc>
                <a:spcPts val="2459"/>
              </a:lnSpc>
              <a:buFont typeface="Arial"/>
              <a:buChar char="•"/>
            </a:pPr>
            <a:r>
              <a:rPr lang="en-US" sz="2049" spc="-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Understand what is at risk.</a:t>
            </a:r>
          </a:p>
          <a:p>
            <a:pPr algn="l" marL="442594" indent="-221297" lvl="1">
              <a:lnSpc>
                <a:spcPts val="2459"/>
              </a:lnSpc>
              <a:buFont typeface="Arial"/>
              <a:buChar char="•"/>
            </a:pPr>
            <a:r>
              <a:rPr lang="en-US" sz="2049" spc="-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Prioritize what needs to change.</a:t>
            </a:r>
          </a:p>
          <a:p>
            <a:pPr algn="l" marL="442594" indent="-221297" lvl="1">
              <a:lnSpc>
                <a:spcPts val="2459"/>
              </a:lnSpc>
              <a:buFont typeface="Arial"/>
              <a:buChar char="•"/>
            </a:pPr>
            <a:r>
              <a:rPr lang="en-US" sz="2049" spc="-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Identify the path toward PQC.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65327" y="2247539"/>
            <a:ext cx="234257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 spc="-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ARCHITECTURE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9720853"/>
            <a:ext cx="13716000" cy="566423"/>
            <a:chOff x="0" y="0"/>
            <a:chExt cx="18288000" cy="755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7746" cy="754888"/>
            </a:xfrm>
            <a:custGeom>
              <a:avLst/>
              <a:gdLst/>
              <a:ahLst/>
              <a:cxnLst/>
              <a:rect r="r" b="b" t="t" l="l"/>
              <a:pathLst>
                <a:path h="754888" w="18287746">
                  <a:moveTo>
                    <a:pt x="18287746" y="754888"/>
                  </a:moveTo>
                  <a:lnTo>
                    <a:pt x="0" y="754888"/>
                  </a:lnTo>
                  <a:lnTo>
                    <a:pt x="0" y="0"/>
                  </a:lnTo>
                  <a:lnTo>
                    <a:pt x="18287746" y="0"/>
                  </a:lnTo>
                  <a:lnTo>
                    <a:pt x="18287746" y="754888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405295" y="409413"/>
            <a:ext cx="12512040" cy="64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866451" y="3365138"/>
            <a:ext cx="852107" cy="423882"/>
          </a:xfrm>
          <a:custGeom>
            <a:avLst/>
            <a:gdLst/>
            <a:ahLst/>
            <a:cxnLst/>
            <a:rect r="r" b="b" t="t" l="l"/>
            <a:pathLst>
              <a:path h="423882" w="852107">
                <a:moveTo>
                  <a:pt x="0" y="0"/>
                </a:moveTo>
                <a:lnTo>
                  <a:pt x="852107" y="0"/>
                </a:lnTo>
                <a:lnTo>
                  <a:pt x="852107" y="423882"/>
                </a:lnTo>
                <a:lnTo>
                  <a:pt x="0" y="423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6503" y="3367410"/>
            <a:ext cx="852107" cy="423882"/>
          </a:xfrm>
          <a:custGeom>
            <a:avLst/>
            <a:gdLst/>
            <a:ahLst/>
            <a:cxnLst/>
            <a:rect r="r" b="b" t="t" l="l"/>
            <a:pathLst>
              <a:path h="423882" w="852107">
                <a:moveTo>
                  <a:pt x="0" y="0"/>
                </a:moveTo>
                <a:lnTo>
                  <a:pt x="852107" y="0"/>
                </a:lnTo>
                <a:lnTo>
                  <a:pt x="852107" y="423882"/>
                </a:lnTo>
                <a:lnTo>
                  <a:pt x="0" y="423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65559" y="5143500"/>
            <a:ext cx="852097" cy="423882"/>
          </a:xfrm>
          <a:custGeom>
            <a:avLst/>
            <a:gdLst/>
            <a:ahLst/>
            <a:cxnLst/>
            <a:rect r="r" b="b" t="t" l="l"/>
            <a:pathLst>
              <a:path h="423882" w="852097">
                <a:moveTo>
                  <a:pt x="0" y="0"/>
                </a:moveTo>
                <a:lnTo>
                  <a:pt x="852097" y="0"/>
                </a:lnTo>
                <a:lnTo>
                  <a:pt x="852097" y="423882"/>
                </a:lnTo>
                <a:lnTo>
                  <a:pt x="0" y="423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22310" y="6902110"/>
            <a:ext cx="852107" cy="423882"/>
          </a:xfrm>
          <a:custGeom>
            <a:avLst/>
            <a:gdLst/>
            <a:ahLst/>
            <a:cxnLst/>
            <a:rect r="r" b="b" t="t" l="l"/>
            <a:pathLst>
              <a:path h="423882" w="852107">
                <a:moveTo>
                  <a:pt x="0" y="0"/>
                </a:moveTo>
                <a:lnTo>
                  <a:pt x="852107" y="0"/>
                </a:lnTo>
                <a:lnTo>
                  <a:pt x="852107" y="423881"/>
                </a:lnTo>
                <a:lnTo>
                  <a:pt x="0" y="423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0962" y="126927"/>
            <a:ext cx="1360310" cy="1360310"/>
          </a:xfrm>
          <a:custGeom>
            <a:avLst/>
            <a:gdLst/>
            <a:ahLst/>
            <a:cxnLst/>
            <a:rect r="r" b="b" t="t" l="l"/>
            <a:pathLst>
              <a:path h="1360310" w="1360310">
                <a:moveTo>
                  <a:pt x="0" y="0"/>
                </a:moveTo>
                <a:lnTo>
                  <a:pt x="1360310" y="0"/>
                </a:lnTo>
                <a:lnTo>
                  <a:pt x="1360310" y="1360310"/>
                </a:lnTo>
                <a:lnTo>
                  <a:pt x="0" y="1360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557338" y="126927"/>
            <a:ext cx="3541634" cy="1699664"/>
            <a:chOff x="0" y="0"/>
            <a:chExt cx="5954714" cy="28577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54714" cy="2857697"/>
            </a:xfrm>
            <a:custGeom>
              <a:avLst/>
              <a:gdLst/>
              <a:ahLst/>
              <a:cxnLst/>
              <a:rect r="r" b="b" t="t" l="l"/>
              <a:pathLst>
                <a:path h="2857697" w="5954714">
                  <a:moveTo>
                    <a:pt x="0" y="0"/>
                  </a:moveTo>
                  <a:lnTo>
                    <a:pt x="5954714" y="0"/>
                  </a:lnTo>
                  <a:lnTo>
                    <a:pt x="5954714" y="2857697"/>
                  </a:lnTo>
                  <a:lnTo>
                    <a:pt x="0" y="285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99" t="0" r="-89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6452948">
            <a:off x="14918966" y="4340732"/>
            <a:ext cx="1185259" cy="1007470"/>
          </a:xfrm>
          <a:custGeom>
            <a:avLst/>
            <a:gdLst/>
            <a:ahLst/>
            <a:cxnLst/>
            <a:rect r="r" b="b" t="t" l="l"/>
            <a:pathLst>
              <a:path h="1007470" w="1185259">
                <a:moveTo>
                  <a:pt x="0" y="0"/>
                </a:moveTo>
                <a:lnTo>
                  <a:pt x="1185258" y="0"/>
                </a:lnTo>
                <a:lnTo>
                  <a:pt x="1185258" y="1007470"/>
                </a:lnTo>
                <a:lnTo>
                  <a:pt x="0" y="1007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874053">
            <a:off x="7164297" y="6076878"/>
            <a:ext cx="1229903" cy="1113063"/>
          </a:xfrm>
          <a:custGeom>
            <a:avLst/>
            <a:gdLst/>
            <a:ahLst/>
            <a:cxnLst/>
            <a:rect r="r" b="b" t="t" l="l"/>
            <a:pathLst>
              <a:path h="1113063" w="1229903">
                <a:moveTo>
                  <a:pt x="0" y="0"/>
                </a:moveTo>
                <a:lnTo>
                  <a:pt x="1229904" y="0"/>
                </a:lnTo>
                <a:lnTo>
                  <a:pt x="1229904" y="1113063"/>
                </a:lnTo>
                <a:lnTo>
                  <a:pt x="0" y="11130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2643" y="2924808"/>
            <a:ext cx="4708859" cy="4805254"/>
          </a:xfrm>
          <a:custGeom>
            <a:avLst/>
            <a:gdLst/>
            <a:ahLst/>
            <a:cxnLst/>
            <a:rect r="r" b="b" t="t" l="l"/>
            <a:pathLst>
              <a:path h="4805254" w="4708859">
                <a:moveTo>
                  <a:pt x="0" y="0"/>
                </a:moveTo>
                <a:lnTo>
                  <a:pt x="4708859" y="0"/>
                </a:lnTo>
                <a:lnTo>
                  <a:pt x="4708859" y="4805254"/>
                </a:lnTo>
                <a:lnTo>
                  <a:pt x="0" y="4805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3108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152766" y="7936318"/>
            <a:ext cx="14017811" cy="1672290"/>
            <a:chOff x="0" y="0"/>
            <a:chExt cx="3691934" cy="4404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91934" cy="440438"/>
            </a:xfrm>
            <a:custGeom>
              <a:avLst/>
              <a:gdLst/>
              <a:ahLst/>
              <a:cxnLst/>
              <a:rect r="r" b="b" t="t" l="l"/>
              <a:pathLst>
                <a:path h="440438" w="3691934">
                  <a:moveTo>
                    <a:pt x="3691934" y="0"/>
                  </a:moveTo>
                  <a:lnTo>
                    <a:pt x="0" y="0"/>
                  </a:lnTo>
                  <a:lnTo>
                    <a:pt x="101600" y="220219"/>
                  </a:lnTo>
                  <a:lnTo>
                    <a:pt x="0" y="440438"/>
                  </a:lnTo>
                  <a:lnTo>
                    <a:pt x="3691934" y="440438"/>
                  </a:lnTo>
                  <a:lnTo>
                    <a:pt x="3590334" y="220219"/>
                  </a:lnTo>
                  <a:lnTo>
                    <a:pt x="3691934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88900" y="9525"/>
              <a:ext cx="3514134" cy="430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8100000">
            <a:off x="10069140" y="8186154"/>
            <a:ext cx="1702588" cy="996014"/>
          </a:xfrm>
          <a:custGeom>
            <a:avLst/>
            <a:gdLst/>
            <a:ahLst/>
            <a:cxnLst/>
            <a:rect r="r" b="b" t="t" l="l"/>
            <a:pathLst>
              <a:path h="996014" w="1702588">
                <a:moveTo>
                  <a:pt x="0" y="0"/>
                </a:moveTo>
                <a:lnTo>
                  <a:pt x="1702588" y="0"/>
                </a:lnTo>
                <a:lnTo>
                  <a:pt x="1702588" y="996014"/>
                </a:lnTo>
                <a:lnTo>
                  <a:pt x="0" y="9960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1004927" y="2140801"/>
            <a:ext cx="372211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 spc="-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TECHNOLOGY STACK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83002" y="3040696"/>
            <a:ext cx="2655570" cy="108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"/>
              </a:lnSpc>
            </a:pPr>
            <a:r>
              <a:rPr lang="en-US" b="true" sz="1500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 — INPUT</a:t>
            </a:r>
          </a:p>
          <a:p>
            <a:pPr algn="l">
              <a:lnSpc>
                <a:spcPts val="1789"/>
              </a:lnSpc>
            </a:pPr>
            <a:r>
              <a:rPr lang="en-US" b="true" sz="1500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 repositories, archives, source code, binaries, configurations &amp; certificates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91607" y="3036151"/>
            <a:ext cx="2939415" cy="109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b="true" sz="1500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 — DISCOVER</a:t>
            </a:r>
          </a:p>
          <a:p>
            <a:pPr algn="l">
              <a:lnSpc>
                <a:spcPts val="1741"/>
              </a:lnSpc>
            </a:pPr>
            <a:r>
              <a:rPr lang="en-US" b="true" sz="1500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Parse artefacts using AST, dependency, binary, configuration, certificate and container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92469" y="4853992"/>
            <a:ext cx="3364868" cy="87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 — ASSESS RISK</a:t>
            </a:r>
          </a:p>
          <a:p>
            <a:pPr algn="l">
              <a:lnSpc>
                <a:spcPts val="1741"/>
              </a:lnSpc>
            </a:pPr>
            <a:r>
              <a:rPr lang="en-US" sz="1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Analyze algorithm, purpose, key size, configuration, sensitivity, criticality and classical risk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13521" y="6610106"/>
            <a:ext cx="3224527" cy="87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b="true" sz="1500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 — RECOMMEND</a:t>
            </a:r>
          </a:p>
          <a:p>
            <a:pPr algn="l">
              <a:lnSpc>
                <a:spcPts val="1741"/>
              </a:lnSpc>
            </a:pPr>
            <a:r>
              <a:rPr lang="en-US" b="true" sz="1500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Generate context-aware PQC / hybrid migration recommendations and priorities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58586" y="6719644"/>
            <a:ext cx="2869568" cy="65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b="true" sz="1500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 — OUTPUT</a:t>
            </a:r>
          </a:p>
          <a:p>
            <a:pPr algn="l">
              <a:lnSpc>
                <a:spcPts val="1741"/>
              </a:lnSpc>
            </a:pPr>
            <a:r>
              <a:rPr lang="en-US" b="true" sz="1500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Interactive dashboard + reports + actionable CBOM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38572" y="9826552"/>
            <a:ext cx="1507865" cy="30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18211" y="4853992"/>
            <a:ext cx="2655570" cy="108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"/>
              </a:lnSpc>
            </a:pPr>
            <a:r>
              <a:rPr lang="en-US" b="true" sz="1500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 — QUANTUM ANALYSIS</a:t>
            </a:r>
          </a:p>
          <a:p>
            <a:pPr algn="l">
              <a:lnSpc>
                <a:spcPts val="1789"/>
              </a:lnSpc>
            </a:pPr>
            <a:r>
              <a:rPr lang="en-US" b="true" sz="1500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Ass</a:t>
            </a:r>
            <a:r>
              <a:rPr lang="en-US" b="true" sz="1500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ess quantum exposure using cryptographic lifetime, migration time and Mosca-style analysis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74215" y="3028345"/>
            <a:ext cx="2655570" cy="108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"/>
              </a:lnSpc>
            </a:pPr>
            <a:r>
              <a:rPr lang="en-US" b="true" sz="1500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 — INVENTORY</a:t>
            </a:r>
          </a:p>
          <a:p>
            <a:pPr algn="l">
              <a:lnSpc>
                <a:spcPts val="1789"/>
              </a:lnSpc>
            </a:pPr>
            <a:r>
              <a:rPr lang="en-US" b="true" sz="1500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1500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ormalize findings into a unified cryptographic inventory / CBOM with source evidence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18558" y="1963255"/>
            <a:ext cx="2403753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1"/>
              </a:lnSpc>
              <a:spcBef>
                <a:spcPct val="0"/>
              </a:spcBef>
            </a:pPr>
            <a:r>
              <a:rPr lang="en-US" b="true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84778" y="8232899"/>
            <a:ext cx="7206829" cy="110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2"/>
              </a:lnSpc>
              <a:spcBef>
                <a:spcPct val="0"/>
              </a:spcBef>
            </a:pPr>
            <a:r>
              <a:rPr lang="en-US" b="true" sz="184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</a:t>
            </a:r>
            <a:r>
              <a:rPr lang="en-US" b="true" sz="184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CRYPTAGUARD prototype works, allowing cryptographic discovery, inventory management, risk assessment against quantum attacks, </a:t>
            </a:r>
            <a:r>
              <a:rPr lang="en-US" b="true" sz="184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PQC/hybrid</a:t>
            </a:r>
            <a:r>
              <a:rPr lang="en-US" b="true" sz="184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recommendations, migration prioritization, and generation of </a:t>
            </a:r>
            <a:r>
              <a:rPr lang="en-US" b="true" sz="184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CBOMs.</a:t>
            </a:r>
            <a:r>
              <a:rPr lang="en-US" b="true" sz="184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9720853"/>
            <a:ext cx="13716000" cy="566423"/>
            <a:chOff x="0" y="0"/>
            <a:chExt cx="18288000" cy="755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7746" cy="754888"/>
            </a:xfrm>
            <a:custGeom>
              <a:avLst/>
              <a:gdLst/>
              <a:ahLst/>
              <a:cxnLst/>
              <a:rect r="r" b="b" t="t" l="l"/>
              <a:pathLst>
                <a:path h="754888" w="18287746">
                  <a:moveTo>
                    <a:pt x="18287746" y="754888"/>
                  </a:moveTo>
                  <a:lnTo>
                    <a:pt x="0" y="754888"/>
                  </a:lnTo>
                  <a:lnTo>
                    <a:pt x="0" y="0"/>
                  </a:lnTo>
                  <a:lnTo>
                    <a:pt x="18287746" y="0"/>
                  </a:lnTo>
                  <a:lnTo>
                    <a:pt x="18287746" y="754888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4599137" y="358550"/>
            <a:ext cx="12512040" cy="64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68385" y="6461158"/>
            <a:ext cx="1504950" cy="1276350"/>
            <a:chOff x="0" y="0"/>
            <a:chExt cx="2006600" cy="1701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66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2006600">
                  <a:moveTo>
                    <a:pt x="0" y="0"/>
                  </a:moveTo>
                  <a:lnTo>
                    <a:pt x="2006600" y="0"/>
                  </a:lnTo>
                  <a:lnTo>
                    <a:pt x="2006600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1" r="0" b="-11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10962" y="126927"/>
            <a:ext cx="1360310" cy="1360310"/>
          </a:xfrm>
          <a:custGeom>
            <a:avLst/>
            <a:gdLst/>
            <a:ahLst/>
            <a:cxnLst/>
            <a:rect r="r" b="b" t="t" l="l"/>
            <a:pathLst>
              <a:path h="1360310" w="1360310">
                <a:moveTo>
                  <a:pt x="0" y="0"/>
                </a:moveTo>
                <a:lnTo>
                  <a:pt x="1360310" y="0"/>
                </a:lnTo>
                <a:lnTo>
                  <a:pt x="1360310" y="1360310"/>
                </a:lnTo>
                <a:lnTo>
                  <a:pt x="0" y="1360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481399" y="126927"/>
            <a:ext cx="3541634" cy="1699664"/>
            <a:chOff x="0" y="0"/>
            <a:chExt cx="5954714" cy="28577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54714" cy="2857697"/>
            </a:xfrm>
            <a:custGeom>
              <a:avLst/>
              <a:gdLst/>
              <a:ahLst/>
              <a:cxnLst/>
              <a:rect r="r" b="b" t="t" l="l"/>
              <a:pathLst>
                <a:path h="2857697" w="5954714">
                  <a:moveTo>
                    <a:pt x="0" y="0"/>
                  </a:moveTo>
                  <a:lnTo>
                    <a:pt x="5954714" y="0"/>
                  </a:lnTo>
                  <a:lnTo>
                    <a:pt x="5954714" y="2857697"/>
                  </a:lnTo>
                  <a:lnTo>
                    <a:pt x="0" y="285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9" t="0" r="-89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0962" y="2453413"/>
            <a:ext cx="8100371" cy="3086100"/>
            <a:chOff x="0" y="0"/>
            <a:chExt cx="213343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431" cy="812800"/>
            </a:xfrm>
            <a:custGeom>
              <a:avLst/>
              <a:gdLst/>
              <a:ahLst/>
              <a:cxnLst/>
              <a:rect r="r" b="b" t="t" l="l"/>
              <a:pathLst>
                <a:path h="812800" w="2133431">
                  <a:moveTo>
                    <a:pt x="48743" y="0"/>
                  </a:moveTo>
                  <a:lnTo>
                    <a:pt x="2084688" y="0"/>
                  </a:lnTo>
                  <a:cubicBezTo>
                    <a:pt x="2097615" y="0"/>
                    <a:pt x="2110013" y="5135"/>
                    <a:pt x="2119155" y="14277"/>
                  </a:cubicBezTo>
                  <a:cubicBezTo>
                    <a:pt x="2128296" y="23418"/>
                    <a:pt x="2133431" y="35816"/>
                    <a:pt x="2133431" y="48743"/>
                  </a:cubicBezTo>
                  <a:lnTo>
                    <a:pt x="2133431" y="764057"/>
                  </a:lnTo>
                  <a:cubicBezTo>
                    <a:pt x="2133431" y="790977"/>
                    <a:pt x="2111608" y="812800"/>
                    <a:pt x="2084688" y="812800"/>
                  </a:cubicBezTo>
                  <a:lnTo>
                    <a:pt x="48743" y="812800"/>
                  </a:lnTo>
                  <a:cubicBezTo>
                    <a:pt x="21823" y="812800"/>
                    <a:pt x="0" y="790977"/>
                    <a:pt x="0" y="764057"/>
                  </a:cubicBezTo>
                  <a:lnTo>
                    <a:pt x="0" y="48743"/>
                  </a:lnTo>
                  <a:cubicBezTo>
                    <a:pt x="0" y="21823"/>
                    <a:pt x="21823" y="0"/>
                    <a:pt x="487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133431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 spc="-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End-to-end prototype including discovery, inventory, risk analysis and migration advice.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 spc="-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Multi-method analysis based on source code, dependencies, configurations, certificates, binaries and containers.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 spc="-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Conclusion is supported by cryptographic use, location of source code and contextual risk data.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 spc="-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Flexible design allowing other scanning techniques, cryptographic policies and migration advice to be added.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74027" y="2929663"/>
            <a:ext cx="587818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Crypto Scanners →</a:t>
            </a:r>
            <a:r>
              <a:rPr lang="en-US" b="true" sz="2049" i="true" spc="-9" u="sng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049" i="true" spc="-9" u="sng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detect cryptography, limited migration context</a:t>
            </a:r>
          </a:p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SBOM Platforms → </a:t>
            </a:r>
            <a:r>
              <a:rPr lang="en-US" sz="2049" i="true" spc="-9" u="sng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track components, limited crypto/quantum analysis</a:t>
            </a:r>
          </a:p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 spc="-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PQC Tools → </a:t>
            </a:r>
            <a:r>
              <a:rPr lang="en-US" sz="2049" i="true" spc="-9" u="sng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recommend algorithms, limited asset discovery</a:t>
            </a:r>
          </a:p>
          <a:p>
            <a:pPr algn="ctr">
              <a:lnSpc>
                <a:spcPts val="2459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9454689" y="6172200"/>
            <a:ext cx="8100371" cy="3086100"/>
            <a:chOff x="0" y="0"/>
            <a:chExt cx="2133431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431" cy="812800"/>
            </a:xfrm>
            <a:custGeom>
              <a:avLst/>
              <a:gdLst/>
              <a:ahLst/>
              <a:cxnLst/>
              <a:rect r="r" b="b" t="t" l="l"/>
              <a:pathLst>
                <a:path h="812800" w="2133431">
                  <a:moveTo>
                    <a:pt x="48743" y="0"/>
                  </a:moveTo>
                  <a:lnTo>
                    <a:pt x="2084688" y="0"/>
                  </a:lnTo>
                  <a:cubicBezTo>
                    <a:pt x="2097615" y="0"/>
                    <a:pt x="2110013" y="5135"/>
                    <a:pt x="2119155" y="14277"/>
                  </a:cubicBezTo>
                  <a:cubicBezTo>
                    <a:pt x="2128296" y="23418"/>
                    <a:pt x="2133431" y="35816"/>
                    <a:pt x="2133431" y="48743"/>
                  </a:cubicBezTo>
                  <a:lnTo>
                    <a:pt x="2133431" y="764057"/>
                  </a:lnTo>
                  <a:cubicBezTo>
                    <a:pt x="2133431" y="790977"/>
                    <a:pt x="2111608" y="812800"/>
                    <a:pt x="2084688" y="812800"/>
                  </a:cubicBezTo>
                  <a:lnTo>
                    <a:pt x="48743" y="812800"/>
                  </a:lnTo>
                  <a:cubicBezTo>
                    <a:pt x="21823" y="812800"/>
                    <a:pt x="0" y="790977"/>
                    <a:pt x="0" y="764057"/>
                  </a:cubicBezTo>
                  <a:lnTo>
                    <a:pt x="0" y="48743"/>
                  </a:lnTo>
                  <a:cubicBezTo>
                    <a:pt x="0" y="21823"/>
                    <a:pt x="21823" y="0"/>
                    <a:pt x="487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2133431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 spc="-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Actionable workflow based on cryptographic discovery → quantum risk assessment → migration prioritization.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 spc="-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CBOM-enabled governance links cryptographic assets to risk, recommendation and migration.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 spc="-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 for interactive analysis, visualization and reporting of security teams.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 spc="-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Foundation for future enterprise integrations and extended cryptographic asset discovery.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475220" y="5930038"/>
          <a:ext cx="5971855" cy="3400425"/>
        </p:xfrm>
        <a:graphic>
          <a:graphicData uri="http://schemas.openxmlformats.org/drawingml/2006/table">
            <a:tbl>
              <a:tblPr/>
              <a:tblGrid>
                <a:gridCol w="1990618"/>
                <a:gridCol w="1990618"/>
                <a:gridCol w="1990618"/>
              </a:tblGrid>
              <a:tr h="491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Challenge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Risk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Mitigation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Crypto Discovery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Fragmented &amp; hidden assets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Multi-modal discovery + inventory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1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Quantum Threat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Exposure of vulnerable cryptography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Quantum + Mosca-based analysis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Mitigation Priority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Difficult to identify what comes first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Risk-based prioritization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PQC Selection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Unclear migration alternatives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PQC / Hybrid recommendations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8538572" y="9826552"/>
            <a:ext cx="1507865" cy="30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58543" y="1915535"/>
            <a:ext cx="327432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-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Technical Feasibility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26274" y="1915535"/>
            <a:ext cx="248900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-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Competitor Check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67714" y="5610307"/>
            <a:ext cx="3274323" cy="31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  <a:spcBef>
                <a:spcPct val="0"/>
              </a:spcBef>
            </a:pPr>
            <a:r>
              <a:rPr lang="en-US" b="true" sz="2199" spc="-1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Operational Viability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9720853"/>
            <a:ext cx="13716000" cy="566423"/>
            <a:chOff x="0" y="0"/>
            <a:chExt cx="18288000" cy="755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7746" cy="754888"/>
            </a:xfrm>
            <a:custGeom>
              <a:avLst/>
              <a:gdLst/>
              <a:ahLst/>
              <a:cxnLst/>
              <a:rect r="r" b="b" t="t" l="l"/>
              <a:pathLst>
                <a:path h="754888" w="18287746">
                  <a:moveTo>
                    <a:pt x="18287746" y="754888"/>
                  </a:moveTo>
                  <a:lnTo>
                    <a:pt x="0" y="754888"/>
                  </a:lnTo>
                  <a:lnTo>
                    <a:pt x="0" y="0"/>
                  </a:lnTo>
                  <a:lnTo>
                    <a:pt x="18287746" y="0"/>
                  </a:lnTo>
                  <a:lnTo>
                    <a:pt x="18287746" y="754888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9519" y="2531165"/>
            <a:ext cx="7477341" cy="4007476"/>
          </a:xfrm>
          <a:custGeom>
            <a:avLst/>
            <a:gdLst/>
            <a:ahLst/>
            <a:cxnLst/>
            <a:rect r="r" b="b" t="t" l="l"/>
            <a:pathLst>
              <a:path h="4007476" w="7477341">
                <a:moveTo>
                  <a:pt x="0" y="0"/>
                </a:moveTo>
                <a:lnTo>
                  <a:pt x="7477340" y="0"/>
                </a:lnTo>
                <a:lnTo>
                  <a:pt x="7477340" y="4007476"/>
                </a:lnTo>
                <a:lnTo>
                  <a:pt x="0" y="4007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19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0962" y="126927"/>
            <a:ext cx="1360310" cy="1360310"/>
          </a:xfrm>
          <a:custGeom>
            <a:avLst/>
            <a:gdLst/>
            <a:ahLst/>
            <a:cxnLst/>
            <a:rect r="r" b="b" t="t" l="l"/>
            <a:pathLst>
              <a:path h="1360310" w="1360310">
                <a:moveTo>
                  <a:pt x="0" y="0"/>
                </a:moveTo>
                <a:lnTo>
                  <a:pt x="1360310" y="0"/>
                </a:lnTo>
                <a:lnTo>
                  <a:pt x="1360310" y="1360310"/>
                </a:lnTo>
                <a:lnTo>
                  <a:pt x="0" y="1360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481399" y="126927"/>
            <a:ext cx="3541634" cy="1699664"/>
            <a:chOff x="0" y="0"/>
            <a:chExt cx="5954714" cy="28577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54714" cy="2857697"/>
            </a:xfrm>
            <a:custGeom>
              <a:avLst/>
              <a:gdLst/>
              <a:ahLst/>
              <a:cxnLst/>
              <a:rect r="r" b="b" t="t" l="l"/>
              <a:pathLst>
                <a:path h="2857697" w="5954714">
                  <a:moveTo>
                    <a:pt x="0" y="0"/>
                  </a:moveTo>
                  <a:lnTo>
                    <a:pt x="5954714" y="0"/>
                  </a:lnTo>
                  <a:lnTo>
                    <a:pt x="5954714" y="2857697"/>
                  </a:lnTo>
                  <a:lnTo>
                    <a:pt x="0" y="285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9" t="0" r="-89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9519" y="7461749"/>
            <a:ext cx="7658194" cy="1950569"/>
            <a:chOff x="0" y="0"/>
            <a:chExt cx="2792266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2266" cy="711200"/>
            </a:xfrm>
            <a:custGeom>
              <a:avLst/>
              <a:gdLst/>
              <a:ahLst/>
              <a:cxnLst/>
              <a:rect r="r" b="b" t="t" l="l"/>
              <a:pathLst>
                <a:path h="711200" w="2792266">
                  <a:moveTo>
                    <a:pt x="247611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2476115" y="551732"/>
                  </a:lnTo>
                  <a:cubicBezTo>
                    <a:pt x="2665828" y="551732"/>
                    <a:pt x="2792266" y="428220"/>
                    <a:pt x="2792266" y="275861"/>
                  </a:cubicBezTo>
                  <a:cubicBezTo>
                    <a:pt x="2792277" y="123512"/>
                    <a:pt x="2665828" y="0"/>
                    <a:pt x="24761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2792266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80368" y="7286285"/>
            <a:ext cx="3086100" cy="2301498"/>
            <a:chOff x="0" y="0"/>
            <a:chExt cx="749300" cy="55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9300" cy="558800"/>
            </a:xfrm>
            <a:custGeom>
              <a:avLst/>
              <a:gdLst/>
              <a:ahLst/>
              <a:cxnLst/>
              <a:rect r="r" b="b" t="t" l="l"/>
              <a:pathLst>
                <a:path h="558800" w="749300">
                  <a:moveTo>
                    <a:pt x="406043" y="0"/>
                  </a:moveTo>
                  <a:cubicBezTo>
                    <a:pt x="456604" y="0"/>
                    <a:pt x="493733" y="32379"/>
                    <a:pt x="519123" y="69812"/>
                  </a:cubicBezTo>
                  <a:cubicBezTo>
                    <a:pt x="565194" y="58279"/>
                    <a:pt x="603839" y="62264"/>
                    <a:pt x="634879" y="90957"/>
                  </a:cubicBezTo>
                  <a:cubicBezTo>
                    <a:pt x="660283" y="114444"/>
                    <a:pt x="671469" y="147917"/>
                    <a:pt x="668656" y="181865"/>
                  </a:cubicBezTo>
                  <a:cubicBezTo>
                    <a:pt x="726486" y="212714"/>
                    <a:pt x="759789" y="270431"/>
                    <a:pt x="746322" y="325853"/>
                  </a:cubicBezTo>
                  <a:cubicBezTo>
                    <a:pt x="731303" y="387651"/>
                    <a:pt x="656148" y="427373"/>
                    <a:pt x="588198" y="417393"/>
                  </a:cubicBezTo>
                  <a:cubicBezTo>
                    <a:pt x="568792" y="454100"/>
                    <a:pt x="533853" y="482938"/>
                    <a:pt x="489558" y="493832"/>
                  </a:cubicBezTo>
                  <a:cubicBezTo>
                    <a:pt x="430475" y="508359"/>
                    <a:pt x="371202" y="486965"/>
                    <a:pt x="335965" y="443851"/>
                  </a:cubicBezTo>
                  <a:lnTo>
                    <a:pt x="142923" y="558800"/>
                  </a:lnTo>
                  <a:cubicBezTo>
                    <a:pt x="172361" y="524546"/>
                    <a:pt x="201390" y="493832"/>
                    <a:pt x="210108" y="440638"/>
                  </a:cubicBezTo>
                  <a:cubicBezTo>
                    <a:pt x="185828" y="447594"/>
                    <a:pt x="157677" y="445652"/>
                    <a:pt x="131529" y="433139"/>
                  </a:cubicBezTo>
                  <a:cubicBezTo>
                    <a:pt x="85470" y="411096"/>
                    <a:pt x="64968" y="362619"/>
                    <a:pt x="71703" y="321667"/>
                  </a:cubicBezTo>
                  <a:cubicBezTo>
                    <a:pt x="45479" y="304342"/>
                    <a:pt x="0" y="279340"/>
                    <a:pt x="0" y="220162"/>
                  </a:cubicBezTo>
                  <a:cubicBezTo>
                    <a:pt x="0" y="165292"/>
                    <a:pt x="59552" y="123168"/>
                    <a:pt x="115465" y="124283"/>
                  </a:cubicBezTo>
                  <a:cubicBezTo>
                    <a:pt x="121514" y="101804"/>
                    <a:pt x="134548" y="81125"/>
                    <a:pt x="154177" y="65777"/>
                  </a:cubicBezTo>
                  <a:cubicBezTo>
                    <a:pt x="195812" y="33231"/>
                    <a:pt x="259860" y="38853"/>
                    <a:pt x="294283" y="67029"/>
                  </a:cubicBezTo>
                  <a:cubicBezTo>
                    <a:pt x="318328" y="25903"/>
                    <a:pt x="356627" y="0"/>
                    <a:pt x="4060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82550"/>
              <a:ext cx="4826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TextBox 14" id="14" descr="$PPTXTitle"/>
          <p:cNvSpPr txBox="true"/>
          <p:nvPr/>
        </p:nvSpPr>
        <p:spPr>
          <a:xfrm rot="0">
            <a:off x="6291772" y="483232"/>
            <a:ext cx="600146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38572" y="9826552"/>
            <a:ext cx="1507865" cy="30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69627" y="7580126"/>
            <a:ext cx="631712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</a:t>
            </a:r>
            <a:r>
              <a:rPr lang="en-US" b="true" sz="2199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quantum capability advances, CRYPTAGUARD helps organizations move from cryptographic visibility to prioritized migration readiness.”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2200" y="2197790"/>
            <a:ext cx="57163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 &amp; Quantum Readiness: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7768" y="2700622"/>
            <a:ext cx="693835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Ensures visibility for cryptography assets and quantum-vulnerable usage, aiding organizations in understanding the areas that require migration.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805522"/>
            <a:ext cx="49357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Operational &amp; Migration Efficiency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7768" y="4310347"/>
            <a:ext cx="692647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-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transforms disparate pieces of information related to cryptography into a migration roadmap, allowing security professionals to focus on assets that need early evaluation and migration.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2200" y="5720047"/>
            <a:ext cx="585860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 spc="-1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Governance &amp; Compliance Visibility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7768" y="6205975"/>
            <a:ext cx="658080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-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Creates a centralized cryptographic inventory and actionable CBOM, connecting assets, evidence, risk and recommended migration paths for security governance.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9720853"/>
            <a:ext cx="13716000" cy="566423"/>
            <a:chOff x="0" y="0"/>
            <a:chExt cx="18288000" cy="755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7746" cy="754888"/>
            </a:xfrm>
            <a:custGeom>
              <a:avLst/>
              <a:gdLst/>
              <a:ahLst/>
              <a:cxnLst/>
              <a:rect r="r" b="b" t="t" l="l"/>
              <a:pathLst>
                <a:path h="754888" w="18287746">
                  <a:moveTo>
                    <a:pt x="18287746" y="754888"/>
                  </a:moveTo>
                  <a:lnTo>
                    <a:pt x="0" y="754888"/>
                  </a:lnTo>
                  <a:lnTo>
                    <a:pt x="0" y="0"/>
                  </a:lnTo>
                  <a:lnTo>
                    <a:pt x="18287746" y="0"/>
                  </a:lnTo>
                  <a:lnTo>
                    <a:pt x="18287746" y="754888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4747260" y="379733"/>
            <a:ext cx="12512040" cy="64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 AND REFERENCES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481399" y="126927"/>
            <a:ext cx="3541634" cy="1699664"/>
            <a:chOff x="0" y="0"/>
            <a:chExt cx="5954714" cy="28577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54714" cy="2857697"/>
            </a:xfrm>
            <a:custGeom>
              <a:avLst/>
              <a:gdLst/>
              <a:ahLst/>
              <a:cxnLst/>
              <a:rect r="r" b="b" t="t" l="l"/>
              <a:pathLst>
                <a:path h="2857697" w="5954714">
                  <a:moveTo>
                    <a:pt x="0" y="0"/>
                  </a:moveTo>
                  <a:lnTo>
                    <a:pt x="5954714" y="0"/>
                  </a:lnTo>
                  <a:lnTo>
                    <a:pt x="5954714" y="2857697"/>
                  </a:lnTo>
                  <a:lnTo>
                    <a:pt x="0" y="285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99" t="0" r="-899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10962" y="126927"/>
            <a:ext cx="1360310" cy="1360310"/>
          </a:xfrm>
          <a:custGeom>
            <a:avLst/>
            <a:gdLst/>
            <a:ahLst/>
            <a:cxnLst/>
            <a:rect r="r" b="b" t="t" l="l"/>
            <a:pathLst>
              <a:path h="1360310" w="1360310">
                <a:moveTo>
                  <a:pt x="0" y="0"/>
                </a:moveTo>
                <a:lnTo>
                  <a:pt x="1360310" y="0"/>
                </a:lnTo>
                <a:lnTo>
                  <a:pt x="1360310" y="1360310"/>
                </a:lnTo>
                <a:lnTo>
                  <a:pt x="0" y="1360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26255" y="6265240"/>
            <a:ext cx="6912317" cy="2249636"/>
            <a:chOff x="0" y="0"/>
            <a:chExt cx="1820528" cy="592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0528" cy="592497"/>
            </a:xfrm>
            <a:custGeom>
              <a:avLst/>
              <a:gdLst/>
              <a:ahLst/>
              <a:cxnLst/>
              <a:rect r="r" b="b" t="t" l="l"/>
              <a:pathLst>
                <a:path h="592497" w="1820528">
                  <a:moveTo>
                    <a:pt x="57121" y="0"/>
                  </a:moveTo>
                  <a:lnTo>
                    <a:pt x="1763407" y="0"/>
                  </a:lnTo>
                  <a:cubicBezTo>
                    <a:pt x="1778557" y="0"/>
                    <a:pt x="1793086" y="6018"/>
                    <a:pt x="1803798" y="16730"/>
                  </a:cubicBezTo>
                  <a:cubicBezTo>
                    <a:pt x="1814510" y="27443"/>
                    <a:pt x="1820528" y="41972"/>
                    <a:pt x="1820528" y="57121"/>
                  </a:cubicBezTo>
                  <a:lnTo>
                    <a:pt x="1820528" y="535376"/>
                  </a:lnTo>
                  <a:cubicBezTo>
                    <a:pt x="1820528" y="566923"/>
                    <a:pt x="1794954" y="592497"/>
                    <a:pt x="1763407" y="592497"/>
                  </a:cubicBezTo>
                  <a:lnTo>
                    <a:pt x="57121" y="592497"/>
                  </a:lnTo>
                  <a:cubicBezTo>
                    <a:pt x="41972" y="592497"/>
                    <a:pt x="27443" y="586479"/>
                    <a:pt x="16730" y="575766"/>
                  </a:cubicBezTo>
                  <a:cubicBezTo>
                    <a:pt x="6018" y="565054"/>
                    <a:pt x="0" y="550525"/>
                    <a:pt x="0" y="535376"/>
                  </a:cubicBezTo>
                  <a:lnTo>
                    <a:pt x="0" y="57121"/>
                  </a:lnTo>
                  <a:cubicBezTo>
                    <a:pt x="0" y="41972"/>
                    <a:pt x="6018" y="27443"/>
                    <a:pt x="16730" y="16730"/>
                  </a:cubicBezTo>
                  <a:cubicBezTo>
                    <a:pt x="27443" y="6018"/>
                    <a:pt x="41972" y="0"/>
                    <a:pt x="571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820528" cy="592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71272" y="2502865"/>
            <a:ext cx="13061595" cy="3086100"/>
            <a:chOff x="0" y="0"/>
            <a:chExt cx="344009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40091" cy="812800"/>
            </a:xfrm>
            <a:custGeom>
              <a:avLst/>
              <a:gdLst/>
              <a:ahLst/>
              <a:cxnLst/>
              <a:rect r="r" b="b" t="t" l="l"/>
              <a:pathLst>
                <a:path h="812800" w="3440091">
                  <a:moveTo>
                    <a:pt x="30229" y="0"/>
                  </a:moveTo>
                  <a:lnTo>
                    <a:pt x="3409862" y="0"/>
                  </a:lnTo>
                  <a:cubicBezTo>
                    <a:pt x="3417879" y="0"/>
                    <a:pt x="3425568" y="3185"/>
                    <a:pt x="3431237" y="8854"/>
                  </a:cubicBezTo>
                  <a:cubicBezTo>
                    <a:pt x="3436906" y="14523"/>
                    <a:pt x="3440091" y="22212"/>
                    <a:pt x="3440091" y="30229"/>
                  </a:cubicBezTo>
                  <a:lnTo>
                    <a:pt x="3440091" y="782571"/>
                  </a:lnTo>
                  <a:cubicBezTo>
                    <a:pt x="3440091" y="799266"/>
                    <a:pt x="3426557" y="812800"/>
                    <a:pt x="3409862" y="812800"/>
                  </a:cubicBezTo>
                  <a:lnTo>
                    <a:pt x="30229" y="812800"/>
                  </a:lnTo>
                  <a:cubicBezTo>
                    <a:pt x="13534" y="812800"/>
                    <a:pt x="0" y="799266"/>
                    <a:pt x="0" y="782571"/>
                  </a:cubicBezTo>
                  <a:lnTo>
                    <a:pt x="0" y="30229"/>
                  </a:lnTo>
                  <a:cubicBezTo>
                    <a:pt x="0" y="13534"/>
                    <a:pt x="13534" y="0"/>
                    <a:pt x="302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440091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b="true" sz="2199" spc="-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•</a:t>
              </a:r>
              <a:r>
                <a:rPr lang="en-US" sz="2199" spc="-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Cryptographic discovery and inventory are foundational for PQC migration, enabling organizations to identify where and how cryptography is used across their systems.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spc="-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Quantum-vulnerable public-key cryptography requires planned migration toward quantum-resistant alternatives, supported by risk assessment and prioritization.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spc="-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CRYPTAGUARD extends this approach by connecting discovery and inventory with quantum-risk analysis, migration prioritization and PQC/hybrid recommendations.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spc="-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Primary Reference: NIST SP 1800-38B — Cryptographic Discovery </a:t>
              </a:r>
              <a:r>
                <a:rPr lang="en-US" b="true" sz="2199" spc="-8" u="sng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4" tooltip="https://www.nccoe.nist.gov/sites/default/files/2023-12/pqc-migration-nist-sp-1800-38b-preliminary-draft.pdf"/>
                </a:rPr>
                <a:t>NIST SP 1800-38B</a:t>
              </a:r>
            </a:p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42408" y="6389065"/>
            <a:ext cx="6912317" cy="2249636"/>
            <a:chOff x="0" y="0"/>
            <a:chExt cx="1820528" cy="5924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0528" cy="592497"/>
            </a:xfrm>
            <a:custGeom>
              <a:avLst/>
              <a:gdLst/>
              <a:ahLst/>
              <a:cxnLst/>
              <a:rect r="r" b="b" t="t" l="l"/>
              <a:pathLst>
                <a:path h="592497" w="1820528">
                  <a:moveTo>
                    <a:pt x="57121" y="0"/>
                  </a:moveTo>
                  <a:lnTo>
                    <a:pt x="1763407" y="0"/>
                  </a:lnTo>
                  <a:cubicBezTo>
                    <a:pt x="1778557" y="0"/>
                    <a:pt x="1793086" y="6018"/>
                    <a:pt x="1803798" y="16730"/>
                  </a:cubicBezTo>
                  <a:cubicBezTo>
                    <a:pt x="1814510" y="27443"/>
                    <a:pt x="1820528" y="41972"/>
                    <a:pt x="1820528" y="57121"/>
                  </a:cubicBezTo>
                  <a:lnTo>
                    <a:pt x="1820528" y="535376"/>
                  </a:lnTo>
                  <a:cubicBezTo>
                    <a:pt x="1820528" y="566923"/>
                    <a:pt x="1794954" y="592497"/>
                    <a:pt x="1763407" y="592497"/>
                  </a:cubicBezTo>
                  <a:lnTo>
                    <a:pt x="57121" y="592497"/>
                  </a:lnTo>
                  <a:cubicBezTo>
                    <a:pt x="41972" y="592497"/>
                    <a:pt x="27443" y="586479"/>
                    <a:pt x="16730" y="575766"/>
                  </a:cubicBezTo>
                  <a:cubicBezTo>
                    <a:pt x="6018" y="565054"/>
                    <a:pt x="0" y="550525"/>
                    <a:pt x="0" y="535376"/>
                  </a:cubicBezTo>
                  <a:lnTo>
                    <a:pt x="0" y="57121"/>
                  </a:lnTo>
                  <a:cubicBezTo>
                    <a:pt x="0" y="41972"/>
                    <a:pt x="6018" y="27443"/>
                    <a:pt x="16730" y="16730"/>
                  </a:cubicBezTo>
                  <a:cubicBezTo>
                    <a:pt x="27443" y="6018"/>
                    <a:pt x="41972" y="0"/>
                    <a:pt x="571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820528" cy="592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b="true" sz="1600" spc="-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• Unified workflow: </a:t>
              </a:r>
              <a:r>
                <a:rPr lang="en-US" sz="1600" i="true" spc="-6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Discovery → Inventory → Risk → Migration → CBOM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 spc="-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• Multi-modal analysis:</a:t>
              </a:r>
              <a:r>
                <a:rPr lang="en-US" sz="1600" i="true" spc="-6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source code, dependencies, configurations, certificates, binaries and containers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 spc="-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• Quantum-focused assessment: </a:t>
              </a:r>
              <a:r>
                <a:rPr lang="en-US" sz="1600" i="true" spc="-7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combines cryptographic exposure, lifetime and Mosca-based analysis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866451" y="7178118"/>
            <a:ext cx="852107" cy="423882"/>
          </a:xfrm>
          <a:custGeom>
            <a:avLst/>
            <a:gdLst/>
            <a:ahLst/>
            <a:cxnLst/>
            <a:rect r="r" b="b" t="t" l="l"/>
            <a:pathLst>
              <a:path h="423882" w="852107">
                <a:moveTo>
                  <a:pt x="0" y="0"/>
                </a:moveTo>
                <a:lnTo>
                  <a:pt x="852107" y="0"/>
                </a:lnTo>
                <a:lnTo>
                  <a:pt x="852107" y="423881"/>
                </a:lnTo>
                <a:lnTo>
                  <a:pt x="0" y="4238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8981602"/>
            <a:ext cx="16168183" cy="571973"/>
            <a:chOff x="0" y="0"/>
            <a:chExt cx="4258287" cy="1506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58287" cy="150643"/>
            </a:xfrm>
            <a:custGeom>
              <a:avLst/>
              <a:gdLst/>
              <a:ahLst/>
              <a:cxnLst/>
              <a:rect r="r" b="b" t="t" l="l"/>
              <a:pathLst>
                <a:path h="150643" w="4258287">
                  <a:moveTo>
                    <a:pt x="4258287" y="0"/>
                  </a:moveTo>
                  <a:lnTo>
                    <a:pt x="0" y="0"/>
                  </a:lnTo>
                  <a:lnTo>
                    <a:pt x="101600" y="75322"/>
                  </a:lnTo>
                  <a:lnTo>
                    <a:pt x="0" y="150643"/>
                  </a:lnTo>
                  <a:lnTo>
                    <a:pt x="4258287" y="150643"/>
                  </a:lnTo>
                  <a:lnTo>
                    <a:pt x="4156687" y="75322"/>
                  </a:lnTo>
                  <a:lnTo>
                    <a:pt x="425828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88900" y="0"/>
              <a:ext cx="4080487" cy="1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538572" y="9826552"/>
            <a:ext cx="1507865" cy="30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6000" y="1826590"/>
            <a:ext cx="338387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-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RESEARCH FOUNDATION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36300" y="6389065"/>
            <a:ext cx="373272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-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SOLUTIONS ALREADY EXIST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18558" y="6389065"/>
            <a:ext cx="691231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-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OUR SOLUTION STANDS OUT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65028" y="6768562"/>
            <a:ext cx="579432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b="true" sz="1600" spc="-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IBM Quantum Safe Explorer — </a:t>
            </a:r>
            <a:r>
              <a:rPr lang="en-US" sz="1600" i="true" spc="-7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Cryptographic discovery, CBOM generation and migration prioritization.</a:t>
            </a:r>
          </a:p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b="true" sz="1600" spc="-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IBM Guardium Cryptography Manager — </a:t>
            </a:r>
            <a:r>
              <a:rPr lang="en-US" sz="1600" i="true" spc="-7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Enterprise cryptographic inventory, risk assessment and lifecycle management</a:t>
            </a:r>
            <a:r>
              <a:rPr lang="en-US" sz="1600" spc="-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b="true" sz="1600" spc="-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Keyfactor AgileSec — </a:t>
            </a:r>
            <a:r>
              <a:rPr lang="en-US" sz="1600" i="true" spc="-7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Cryptographic asset discovery across code, infrastructure, networks and cloud.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1272" y="9086377"/>
            <a:ext cx="1485960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b="true" sz="1944" i="true" spc="-9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You cannot secure what you cannot see — </a:t>
            </a:r>
            <a:r>
              <a:rPr lang="en-US" b="true" sz="1944" i="true" spc="-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CRYPTAGUARD </a:t>
            </a:r>
            <a:r>
              <a:rPr lang="en-US" b="true" sz="1944" i="true" spc="-9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makes your cryptographic estate visible, measurable, and actionable.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DAHWaMwYX-M</dc:identifier>
  <dcterms:modified xsi:type="dcterms:W3CDTF">2011-08-01T06:04:30Z</dcterms:modified>
  <cp:revision>1</cp:revision>
  <dc:title>sih ppt.pptx</dc:title>
</cp:coreProperties>
</file>