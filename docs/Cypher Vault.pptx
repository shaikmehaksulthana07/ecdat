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58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47125" y="186327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-1004164" y="200494"/>
            <a:ext cx="9266736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Cryptographic Discovery </a:t>
            </a:r>
          </a:p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Analysis Tool (ECDAT)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2539" y="1750187"/>
            <a:ext cx="4920504" cy="4716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–SIH26164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“Enterprise Cryptographic Discovery &amp; Analysis Tool (ECDAT)”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Theme-Block chain &amp;Cyber Security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Software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ID-MRECW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–Cypher Vault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Enterprise Cryptographic Discovery </a:t>
            </a:r>
            <a:b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&amp; Analysis Tool (ECDAT)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994" y="2031053"/>
            <a:ext cx="5339404" cy="2644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Proposed Solution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cryptographic usage across source code, dependencies and configurations.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algorithms, key parameters, APIs, protocols and certificates.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structured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Inventory / CBOM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evidence and relationships.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and quantum exposure to identify high-priority assets.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appropriate PQC options based on the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purpose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findings to support practical migration planning.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6885BB-9637-F88E-EA6D-CFB2D17A7EBC}"/>
              </a:ext>
            </a:extLst>
          </p:cNvPr>
          <p:cNvSpPr txBox="1"/>
          <p:nvPr/>
        </p:nvSpPr>
        <p:spPr>
          <a:xfrm>
            <a:off x="5924813" y="2178995"/>
            <a:ext cx="61656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</a:t>
            </a:r>
          </a:p>
          <a:p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Cryptographic Discovery – Detects encryption algorithms and cryptographic libraries across enterprise code and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Quantum-Readiness Analysis – Identifies algorithms vulnerable to future quantum attacks and highlights migration priorities.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Crypto Inventory – Creates a unified, searchable inventory of where and how cryptography is being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Risk-Based Intelligence – Assigns risk levels based on algorithm strength, usage, configuration and future security threats.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Migration Guidance – Recommends suitable modern and post-quantum cryptographic alternatives.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– Enables organizations to continuously track cryptographic changes and emerging vulnerabilities.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7AF8B4-1122-BC84-2DEF-337FD8824EE9}"/>
              </a:ext>
            </a:extLst>
          </p:cNvPr>
          <p:cNvSpPr txBox="1"/>
          <p:nvPr/>
        </p:nvSpPr>
        <p:spPr>
          <a:xfrm>
            <a:off x="2877624" y="5245971"/>
            <a:ext cx="60943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                              </a:t>
            </a:r>
            <a:r>
              <a:rPr lang="en-IN" b="1" dirty="0"/>
              <a:t>Our Promise</a:t>
            </a:r>
          </a:p>
          <a:p>
            <a:pPr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“We make cryptography visible, measurable, and future-ready helping organizations discover hidden crypto risks today and prepare securely for the quantum era.”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8375727-50D2-3E9C-804B-83F93D564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94" y="370127"/>
            <a:ext cx="1144244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994" y="-3162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697F34-D5E1-9BE6-6D8C-8CB130C07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497973"/>
              </p:ext>
            </p:extLst>
          </p:nvPr>
        </p:nvGraphicFramePr>
        <p:xfrm>
          <a:off x="609600" y="1942569"/>
          <a:ext cx="6595837" cy="360870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02502">
                  <a:extLst>
                    <a:ext uri="{9D8B030D-6E8A-4147-A177-3AD203B41FA5}">
                      <a16:colId xmlns:a16="http://schemas.microsoft.com/office/drawing/2014/main" val="1953972823"/>
                    </a:ext>
                  </a:extLst>
                </a:gridCol>
                <a:gridCol w="1826746">
                  <a:extLst>
                    <a:ext uri="{9D8B030D-6E8A-4147-A177-3AD203B41FA5}">
                      <a16:colId xmlns:a16="http://schemas.microsoft.com/office/drawing/2014/main" val="1611848126"/>
                    </a:ext>
                  </a:extLst>
                </a:gridCol>
                <a:gridCol w="2666589">
                  <a:extLst>
                    <a:ext uri="{9D8B030D-6E8A-4147-A177-3AD203B41FA5}">
                      <a16:colId xmlns:a16="http://schemas.microsoft.com/office/drawing/2014/main" val="2787627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18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Technology/Tool</a:t>
                      </a:r>
                      <a:endParaRPr lang="en-IN" sz="18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18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7086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Interative</a:t>
                      </a: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dashboard UI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1923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Language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TypeScript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Type-safe frontend development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2350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Build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</a:t>
                      </a:r>
                      <a:r>
                        <a:rPr lang="en-IN" sz="18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server&amp;production</a:t>
                      </a: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build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1046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 21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application &amp; analysis logic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3331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Framework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Boot 4.1.1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 API &amp; backend services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3782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PQC Standards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ML-KEM,ML-DSA,SLH-DSA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 quantum alternatives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014370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08641EBD-4BF5-D6AA-0B6B-CE42D1D2A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586" y="1242018"/>
            <a:ext cx="3582053" cy="47973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9718AB-2B7A-6CB6-3373-75CC738D4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94" y="283724"/>
            <a:ext cx="1144244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4554" y="1681635"/>
            <a:ext cx="6977974" cy="4191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technology is available since it uses known methods for static analysis and dependency analysis.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follows the standards set by NIST PQC and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CycloneDX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CBOM .The method based on software does not require hardware when making a prototype.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limitations are obfuscated, custom and hardware-based cryptography.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steps should include gathering evidence about the code, the API, the dependencies and the configuration.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845A45-4595-0C0E-FEAE-C38867915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2529" y="1595596"/>
            <a:ext cx="5039471" cy="4364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E17DCC-DC9D-F9D3-CDD0-6AE73F3A3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94" y="370127"/>
            <a:ext cx="114424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71F4ED-850B-C3C1-2E0F-2695CE19F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944" y="1395247"/>
            <a:ext cx="4076110" cy="44663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2BE579-0AC8-3E91-4B28-B7091FC6470B}"/>
              </a:ext>
            </a:extLst>
          </p:cNvPr>
          <p:cNvSpPr txBox="1"/>
          <p:nvPr/>
        </p:nvSpPr>
        <p:spPr>
          <a:xfrm>
            <a:off x="329771" y="1732399"/>
            <a:ext cx="35055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/ Security Teams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cryptographic usage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 cryptographic dependencies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findings to source evidence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migration requirements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C6351-9A47-881A-6821-6C25D5FCCA4C}"/>
              </a:ext>
            </a:extLst>
          </p:cNvPr>
          <p:cNvSpPr txBox="1"/>
          <p:nvPr/>
        </p:nvSpPr>
        <p:spPr>
          <a:xfrm>
            <a:off x="329772" y="3429000"/>
            <a:ext cx="35055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/ Governance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organized cryptographic inventory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security and quantum exposure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high-risk assets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crypto-agility planning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8C2A2-F942-1FD3-F22A-9E3E54D344B7}"/>
              </a:ext>
            </a:extLst>
          </p:cNvPr>
          <p:cNvSpPr txBox="1"/>
          <p:nvPr/>
        </p:nvSpPr>
        <p:spPr>
          <a:xfrm>
            <a:off x="8356714" y="1548486"/>
            <a:ext cx="357270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Migration</a:t>
            </a:r>
          </a:p>
          <a:p>
            <a:r>
              <a:rPr lang="en-IN" dirty="0"/>
              <a:t>Purpose-aware PQC recommendations</a:t>
            </a:r>
          </a:p>
          <a:p>
            <a:r>
              <a:rPr lang="en-IN" dirty="0"/>
              <a:t>Risk-based migration prioritization</a:t>
            </a:r>
          </a:p>
          <a:p>
            <a:r>
              <a:rPr lang="en-IN" dirty="0"/>
              <a:t>Reduced manual discovery effort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Key Impact</a:t>
            </a:r>
          </a:p>
          <a:p>
            <a:r>
              <a:rPr lang="en-IN" dirty="0"/>
              <a:t>Discover → Understand → Prioritize → Prepare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760BE1-6130-990A-9FFD-EF3364188F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94" y="370127"/>
            <a:ext cx="114424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11463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3249055-9AA3-172E-9767-F4D8CCF52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117255"/>
              </p:ext>
            </p:extLst>
          </p:nvPr>
        </p:nvGraphicFramePr>
        <p:xfrm>
          <a:off x="1918461" y="1787254"/>
          <a:ext cx="7986892" cy="3587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62002">
                  <a:extLst>
                    <a:ext uri="{9D8B030D-6E8A-4147-A177-3AD203B41FA5}">
                      <a16:colId xmlns:a16="http://schemas.microsoft.com/office/drawing/2014/main" val="3241922682"/>
                    </a:ext>
                  </a:extLst>
                </a:gridCol>
                <a:gridCol w="2662002">
                  <a:extLst>
                    <a:ext uri="{9D8B030D-6E8A-4147-A177-3AD203B41FA5}">
                      <a16:colId xmlns:a16="http://schemas.microsoft.com/office/drawing/2014/main" val="4008085506"/>
                    </a:ext>
                  </a:extLst>
                </a:gridCol>
                <a:gridCol w="2662888">
                  <a:extLst>
                    <a:ext uri="{9D8B030D-6E8A-4147-A177-3AD203B41FA5}">
                      <a16:colId xmlns:a16="http://schemas.microsoft.com/office/drawing/2014/main" val="32515327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Incident</a:t>
                      </a:r>
                      <a:endParaRPr lang="en-IN" sz="15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solidFill>
                            <a:schemeClr val="tx1"/>
                          </a:solidFill>
                          <a:effectLst/>
                        </a:rPr>
                        <a:t>Details</a:t>
                      </a:r>
                      <a:endParaRPr lang="en-IN" sz="15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IN" sz="15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0124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Cryptographic Discovery</a:t>
                      </a:r>
                      <a:endParaRPr lang="en-IN" sz="15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solidFill>
                            <a:schemeClr val="tx1"/>
                          </a:solidFill>
                          <a:effectLst/>
                        </a:rPr>
                        <a:t>Crypto is distributed across code, dependencies and configurations.</a:t>
                      </a:r>
                      <a:endParaRPr lang="en-IN" sz="15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Yamamuro</a:t>
                      </a:r>
                      <a:r>
                        <a:rPr lang="en-IN" sz="15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2026</a:t>
                      </a:r>
                      <a:endParaRPr lang="en-IN" sz="15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5031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Cryptographic Inventory</a:t>
                      </a:r>
                      <a:endParaRPr lang="en-IN" sz="15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</a:rPr>
                        <a:t>PQC migration requires identifying algorithms, parameters and usage.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Yamamuro</a:t>
                      </a:r>
                      <a:r>
                        <a:rPr lang="en-IN" sz="15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2026</a:t>
                      </a:r>
                      <a:endParaRPr lang="en-IN" sz="15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4105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CBOM</a:t>
                      </a:r>
                      <a:endParaRPr lang="en-IN" sz="15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</a:rPr>
                        <a:t>Structured representation of crypto assets, relationships and evidence.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Hess 2026</a:t>
                      </a:r>
                      <a:endParaRPr lang="en-IN" sz="15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8675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Quantum Risk</a:t>
                      </a:r>
                      <a:endParaRPr lang="en-IN" sz="15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solidFill>
                            <a:schemeClr val="tx1"/>
                          </a:solidFill>
                          <a:effectLst/>
                        </a:rPr>
                        <a:t>RSA/ECC are vulnerable to future quantum attacks</a:t>
                      </a:r>
                      <a:endParaRPr lang="en-IN" sz="15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NIST / </a:t>
                      </a:r>
                      <a:r>
                        <a:rPr lang="en-IN" sz="1500" b="1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Yamamuro</a:t>
                      </a:r>
                      <a:r>
                        <a:rPr lang="en-IN" sz="15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  <a:endParaRPr lang="en-IN" sz="15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5028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HNDL Threat</a:t>
                      </a:r>
                      <a:endParaRPr lang="en-IN" sz="15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solidFill>
                            <a:schemeClr val="tx1"/>
                          </a:solidFill>
                          <a:effectLst/>
                        </a:rPr>
                        <a:t>Encrypted data can be captured today and decrypted later.</a:t>
                      </a:r>
                      <a:endParaRPr lang="en-IN" sz="15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NIST</a:t>
                      </a:r>
                      <a:endParaRPr lang="en-IN" sz="15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469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5915D72-FBFD-8E7B-45FB-7466BCDA38E8}"/>
              </a:ext>
            </a:extLst>
          </p:cNvPr>
          <p:cNvSpPr txBox="1"/>
          <p:nvPr/>
        </p:nvSpPr>
        <p:spPr>
          <a:xfrm>
            <a:off x="1458415" y="5791634"/>
            <a:ext cx="9275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“Every hidden algorithm tells a story –ECDAT reveals the risks before they become threats”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9C3DD2-9D08-4B8F-B272-3AF29B29F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94" y="370127"/>
            <a:ext cx="114424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7661</TotalTime>
  <Words>548</Words>
  <Application>Microsoft Office PowerPoint</Application>
  <PresentationFormat>Widescreen</PresentationFormat>
  <Paragraphs>106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Enterprise Cryptographic Discovery  &amp; Analysis Tool (ECDAT)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geethasri surapureddy</cp:lastModifiedBy>
  <cp:revision>151</cp:revision>
  <dcterms:created xsi:type="dcterms:W3CDTF">2013-12-12T18:46:50Z</dcterms:created>
  <dcterms:modified xsi:type="dcterms:W3CDTF">2026-09-08T05:19:49Z</dcterms:modified>
  <cp:category/>
</cp:coreProperties>
</file>